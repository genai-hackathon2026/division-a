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9" r:id="rId12"/>
    <p:sldId id="268" r:id="rId13"/>
    <p:sldId id="270" r:id="rId14"/>
    <p:sldId id="27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C13A2-EB04-24E2-F3EC-1545DCB3E5E5}" v="44" dt="2026-05-30T18:57:20.071"/>
    <p1510:client id="{448ED86C-9082-F311-9969-5811F94A042F}" v="82" dt="2026-05-30T19:56:54.565"/>
    <p1510:client id="{4B70B968-A168-5EFC-A83E-2FA5A0F3B027}" v="25" dt="2026-05-31T02:53:03.251"/>
    <p1510:client id="{BBF73CA9-4337-6A3D-7C09-C5B446CE16ED}" v="8" dt="2026-05-30T19:53:34.603"/>
    <p1510:client id="{C90AFD83-9AE4-D5A7-25F0-EF6DD78F201D}" v="1" dt="2026-05-30T19:55:23.277"/>
    <p1510:client id="{CA8B769E-ABE1-2679-F192-1E7E4520CA40}" v="33" dt="2026-05-31T03:11:44.126"/>
    <p1510:client id="{DDE49214-95CF-849D-E591-706F96752709}" v="258" dt="2026-05-30T19:27:12.684"/>
    <p1510:client id="{EE5FD9E6-D624-49BA-F373-EB8A1576124B}" v="128" dt="2026-05-30T18:45:25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89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slide. Introduce the project title, team, and guide. Briefly explain the goal: using GenAI to turn news headlines into 4-panel comic strips. Emphasize this is a working system, not just a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5 core problems. Emphasize that these are real engineering challenges, not theoretical. The character drift and text rendering issues are particularly important to highlight as novel problems your system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 the market motivation. Back statistics with citations if possible. Emphasize the diverse beneficiary groups — this shows real-world applicability beyond a lab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directly ties problems to your engineered solutions. Walk evaluators through each row. Emphasize that these are not workarounds — they are architectural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each objective. Point out that O1-O4 solve technical problems, O5 addresses the constraint of free tools, and O6 adds academic value through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core architecture slide. Walk through the flow top to bottom. Call out the parallel processing in Layer 4. Point to the Explainability Dashboard as a research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why a single LLM call was chosen over chained prompts — reliability and latency. Pydantic validation is a key engineering contribution: it ensures the AI never produces an invalid comic.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key innovation slide. Explain that diffusion models are stateless — they don't remember previous panels. The DNA Engine solves this by being prescriptive about character appearance in every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 that parallel image generation is a key performance optimization. Also mention that Pollinations.ai was chosen because it requires no API key — keeping the project fully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the critical design decision: no AI-generated text inside images. This solves the broken-text problem completely by keeping text rendering in code (PIL) rather than in the diffusion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Replace placeholders with actual generated comics before the review. Highlight one specific panel and walk through how the Character DNA, Narrative Planner, and Prompt Builder contributed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 transparent about what's complete and what's in progress. Evaluators appreciate honesty. Explain the plan to complete remaining components before Review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Explainability is a key academic contribution. Explain that the dashboard makes the AI's reasoning visible — users and evaluators can trace how the headline became each panel. This is especially important for faculty who will question the AI decision-making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your most powerful slide. Run the live demo if possible — generate the RCB headline in real-time. If not, show pre-generated screenshots. Walk through each panel and explain what the AI did at each step. End by inviting questions from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36576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4008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109728" cy="109728"/>
          </a:xfrm>
          <a:prstGeom prst="ellipse">
            <a:avLst/>
          </a:prstGeom>
          <a:solidFill>
            <a:srgbClr val="00B4D8">
              <a:alpha val="8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011680"/>
            <a:ext cx="109728" cy="109728"/>
          </a:xfrm>
          <a:prstGeom prst="ellipse">
            <a:avLst/>
          </a:prstGeom>
          <a:solidFill>
            <a:srgbClr val="00B4D8">
              <a:alpha val="7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697480"/>
            <a:ext cx="109728" cy="109728"/>
          </a:xfrm>
          <a:prstGeom prst="ellipse">
            <a:avLst/>
          </a:prstGeom>
          <a:solidFill>
            <a:srgbClr val="00B4D8">
              <a:alpha val="64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83280"/>
            <a:ext cx="109728" cy="109728"/>
          </a:xfrm>
          <a:prstGeom prst="ellipse">
            <a:avLst/>
          </a:prstGeom>
          <a:solidFill>
            <a:srgbClr val="00B4D8">
              <a:alpha val="5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0690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>
                <a:solidFill>
                  <a:srgbClr val="00B4D8"/>
                </a:solidFill>
              </a:rPr>
              <a:t>REVIEW – 1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64592" y="3474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94A3B8"/>
                </a:solidFill>
              </a:rPr>
              <a:t>DEPARTMENT OF</a:t>
            </a:r>
            <a:endParaRPr lang="en-US" sz="850"/>
          </a:p>
          <a:p>
            <a:pPr marL="0" indent="0" algn="l">
              <a:buNone/>
            </a:pPr>
            <a:r>
              <a:rPr lang="en-US" sz="850">
                <a:solidFill>
                  <a:srgbClr val="94A3B8"/>
                </a:solidFill>
              </a:rPr>
              <a:t>COMPUTER SCIENCE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164592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FD166"/>
                </a:solidFill>
              </a:rPr>
              <a:t>2026 – 27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429000" y="5029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>
                <a:solidFill>
                  <a:srgbClr val="00B4D8"/>
                </a:solidFill>
              </a:rPr>
              <a:t>AI COMIC STRIP</a:t>
            </a:r>
            <a:endParaRPr lang="en-US" sz="3600"/>
          </a:p>
        </p:txBody>
      </p:sp>
      <p:sp>
        <p:nvSpPr>
          <p:cNvPr id="15" name="Text 13"/>
          <p:cNvSpPr/>
          <p:nvPr/>
        </p:nvSpPr>
        <p:spPr>
          <a:xfrm>
            <a:off x="3429000" y="11430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>
                <a:solidFill>
                  <a:srgbClr val="FFFFFF"/>
                </a:solidFill>
              </a:rPr>
              <a:t>GENERATOR</a:t>
            </a:r>
            <a:endParaRPr lang="en-US" sz="4400"/>
          </a:p>
        </p:txBody>
      </p:sp>
      <p:sp>
        <p:nvSpPr>
          <p:cNvPr id="16" name="Text 14"/>
          <p:cNvSpPr/>
          <p:nvPr/>
        </p:nvSpPr>
        <p:spPr>
          <a:xfrm>
            <a:off x="342900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400">
                <a:solidFill>
                  <a:srgbClr val="FFD166"/>
                </a:solidFill>
              </a:rPr>
              <a:t>FROM NEWS HEADLINES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3429000" y="2286000"/>
            <a:ext cx="53035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3774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</a:rPr>
              <a:t>Converting real-world news headlines into coherent</a:t>
            </a:r>
            <a:endParaRPr lang="en-US" sz="1200"/>
          </a:p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</a:rPr>
              <a:t>4-panel AI-generated comic strips using GenAI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342900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Presented by: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3429000" y="3493008"/>
            <a:ext cx="53949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FFFFFF"/>
                </a:solidFill>
                <a:ea typeface="Calibri"/>
                <a:cs typeface="Calibri"/>
              </a:rPr>
              <a:t>A6 - </a:t>
            </a:r>
            <a:r>
              <a:rPr lang="en-US" sz="1000">
                <a:solidFill>
                  <a:srgbClr val="FFFFFF"/>
                </a:solidFill>
                <a:ea typeface="Calibri"/>
                <a:cs typeface="Calibri"/>
              </a:rPr>
              <a:t> Dept. of Computer Science</a:t>
            </a:r>
            <a:endParaRPr lang="en-US" sz="100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11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2900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Guide: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429000" y="4096512"/>
            <a:ext cx="53949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FFFFFF"/>
                </a:solidFill>
              </a:rPr>
              <a:t>Prof. Guruprasad K 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3429000" y="4617720"/>
            <a:ext cx="1280160" cy="25603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4617720"/>
            <a:ext cx="128016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GenAI Hackathon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4800600" y="4617720"/>
            <a:ext cx="128016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 b="1">
              <a:solidFill>
                <a:srgbClr val="00B4D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PROBLEM STATEMENT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00B4D8"/>
                </a:solidFill>
              </a:rPr>
              <a:t>02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0D1B2A"/>
                </a:solidFill>
              </a:rPr>
              <a:t>News is consumed passively. Visual storytelling increases engagement, comprehension, and retention — yet no accessible tool converts headlines into comic narratives automatically.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7452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77F00"/>
                </a:solidFill>
              </a:rPr>
              <a:t>01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Manual Process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Comic artists manually interpret news – time-intensive and non-scalable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154680" y="18745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87452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77F00"/>
                </a:solidFill>
              </a:rPr>
              <a:t>02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2918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Character Drift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291840" y="2468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AI models produce different-looking characters across panels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5989320" y="18745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87452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77F00"/>
                </a:solidFill>
              </a:rPr>
              <a:t>03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12648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Broken Text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126480" y="2468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Diffusion models cannot reliably render readable text in images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1691640" y="338328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91640" y="338328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456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77F00"/>
                </a:solidFill>
              </a:rPr>
              <a:t>04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82880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No Story Arc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1828800" y="3977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Existing tools lack structured narrative: setup, conflict, climax, resolution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526280" y="338328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26280" y="338328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456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77F00"/>
                </a:solidFill>
              </a:rPr>
              <a:t>05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66344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Black Box AI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4663440" y="3977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Users cannot understand how the AI reached its creative decisions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MOTIVATION &amp; REAL-WORLD NEED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00B4D8"/>
                </a:solidFill>
              </a:rPr>
              <a:t>03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6576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D166"/>
                </a:solidFill>
              </a:rPr>
              <a:t>65%</a:t>
            </a:r>
            <a:endParaRPr lang="en-US" sz="4200"/>
          </a:p>
        </p:txBody>
      </p:sp>
      <p:sp>
        <p:nvSpPr>
          <p:cNvPr id="8" name="Text 6"/>
          <p:cNvSpPr/>
          <p:nvPr/>
        </p:nvSpPr>
        <p:spPr>
          <a:xfrm>
            <a:off x="1920240" y="960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F4F8"/>
                </a:solidFill>
              </a:rPr>
              <a:t>of people prefer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0F4F8"/>
                </a:solidFill>
              </a:rPr>
              <a:t>visual content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40280"/>
            <a:ext cx="36576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317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D166"/>
                </a:solidFill>
              </a:rPr>
              <a:t>3×</a:t>
            </a:r>
            <a:endParaRPr lang="en-US" sz="420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F4F8"/>
                </a:solidFill>
              </a:rPr>
              <a:t>higher retention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0F4F8"/>
                </a:solidFill>
              </a:rPr>
              <a:t>with comics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320040" y="338328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611880"/>
            <a:ext cx="36576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D166"/>
                </a:solidFill>
              </a:rPr>
              <a:t>4.7B</a:t>
            </a:r>
            <a:endParaRPr lang="en-US" sz="4200"/>
          </a:p>
        </p:txBody>
      </p:sp>
      <p:sp>
        <p:nvSpPr>
          <p:cNvPr id="16" name="Text 14"/>
          <p:cNvSpPr/>
          <p:nvPr/>
        </p:nvSpPr>
        <p:spPr>
          <a:xfrm>
            <a:off x="1920240" y="3703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F4F8"/>
                </a:solidFill>
              </a:rPr>
              <a:t>daily news readers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0F4F8"/>
                </a:solidFill>
              </a:rPr>
              <a:t>globally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320040" y="475488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D1B2A"/>
                </a:solidFill>
              </a:rPr>
              <a:t>WHO BENEFITS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4572000" y="132588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371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📰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5166360" y="1362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</a:rPr>
              <a:t>News Agencies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166360" y="16184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Auto-generate visual summaries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572000" y="203911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2084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🎓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5166360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</a:rPr>
              <a:t>Educators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166360" y="23317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Explain current events to students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572000" y="275234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27980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♿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51663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</a:rPr>
              <a:t>Accessibility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166360" y="30449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Visual format for varied learners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572000" y="346557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35112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📱</a:t>
            </a:r>
            <a:endParaRPr lang="en-US" sz="1800"/>
          </a:p>
        </p:txBody>
      </p:sp>
      <p:sp>
        <p:nvSpPr>
          <p:cNvPr id="33" name="Text 31"/>
          <p:cNvSpPr/>
          <p:nvPr/>
        </p:nvSpPr>
        <p:spPr>
          <a:xfrm>
            <a:off x="5166360" y="3502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</a:rPr>
              <a:t>Social Media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166360" y="37581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Shareable comic-format news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572000" y="417880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42245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📚</a:t>
            </a:r>
            <a:endParaRPr lang="en-US" sz="1800"/>
          </a:p>
        </p:txBody>
      </p:sp>
      <p:sp>
        <p:nvSpPr>
          <p:cNvPr id="37" name="Text 35"/>
          <p:cNvSpPr/>
          <p:nvPr/>
        </p:nvSpPr>
        <p:spPr>
          <a:xfrm>
            <a:off x="5166360" y="4215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</a:rPr>
              <a:t>Publishers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5166360" y="44714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Low-cost comic content pipeline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EXISTING CHALLENGES IN AI COMIC GENERATION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77F00"/>
                </a:solidFill>
              </a:rPr>
              <a:t>04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⚠  CURRENT PROBLEM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892040" y="868680"/>
            <a:ext cx="3931920" cy="34747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✓  OUR SOLUTION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251960" y="8686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D166"/>
                </a:solidFill>
              </a:rPr>
              <a:t>→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624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CA5A5"/>
                </a:solidFill>
              </a:rPr>
              <a:t>Character inconsistency across panels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251960" y="1325880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D166"/>
                </a:solidFill>
              </a:rPr>
              <a:t>→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892040" y="1325880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3624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E7B7"/>
                </a:solidFill>
              </a:rPr>
              <a:t>Character DNA Engine — inject profile into every prompt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20040" y="2029968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665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CA5A5"/>
                </a:solidFill>
              </a:rPr>
              <a:t>Poor text rendering inside images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251960" y="2029968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D166"/>
                </a:solidFill>
              </a:rPr>
              <a:t>→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892040" y="2029968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0665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E7B7"/>
                </a:solidFill>
              </a:rPr>
              <a:t>Programmatic speech bubbles via PIL — zero AI text rendering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20040" y="2734056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706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CA5A5"/>
                </a:solidFill>
              </a:rPr>
              <a:t>Weak storytelling structure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251960" y="2734056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D166"/>
                </a:solidFill>
              </a:rPr>
              <a:t>→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4892040" y="2734056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7706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E7B7"/>
                </a:solidFill>
              </a:rPr>
              <a:t>Narrative Planner: Setup → Conflict → Climax → Resolution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320040" y="3438144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CA5A5"/>
                </a:solidFill>
              </a:rPr>
              <a:t>Unreliable / hallucinated AI outputs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251960" y="3438144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D166"/>
                </a:solidFill>
              </a:rPr>
              <a:t>→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4892040" y="3438144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E7B7"/>
                </a:solidFill>
              </a:rPr>
              <a:t>Pydantic schema validation + automatic retry logic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322235" y="4140330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788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CA5A5"/>
                </a:solidFill>
              </a:rPr>
              <a:t>No explainability of AI decisions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4251960" y="4142232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D166"/>
                </a:solidFill>
              </a:rPr>
              <a:t>→</a:t>
            </a:r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4892040" y="4142232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1788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E7B7"/>
                </a:solidFill>
              </a:rPr>
              <a:t>End-to-end Explainability Dashboard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PROJECT OBJECTIVES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06D6A0"/>
                </a:solidFill>
              </a:rPr>
              <a:t>05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686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0B4D8"/>
                </a:solidFill>
              </a:rPr>
              <a:t>PRIMARY OBJECTIVE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2514600" y="1024128"/>
            <a:ext cx="274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868680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</a:rPr>
              <a:t>Build an end-to-end pipeline that converts any news headline into a structured, visually coherent 4-panel comic strip using only free and open-source AI tools.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19072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6479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</a:rPr>
              <a:t>O1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005840" y="18105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Structured Story Generation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05840" y="217627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LLM-based JSON output with validated schema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754880" y="17190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719072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6479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</a:rPr>
              <a:t>O2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5440680" y="18105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Character Consistency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5440680" y="217627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Character DNA injected into every image prompt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98064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43784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</a:rPr>
              <a:t>O3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005840" y="28895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Narrative Coherence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1005840" y="32552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4-panel arc: Setup → Conflict → Climax → Resolution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754880" y="279806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798064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43784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</a:rPr>
              <a:t>O4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5440680" y="28895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Readable Dialogue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440680" y="32552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Programmatic speech bubbles, no AI text rendering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320040" y="387705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77056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922776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</a:rPr>
              <a:t>O5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1005840" y="396849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Open-Source Stack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1005840" y="433425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Groq, Llama 3.3 70B, Pollinations.ai, PIL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754880" y="387705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877056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922776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B4D8"/>
                </a:solidFill>
              </a:rPr>
              <a:t>O6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5440680" y="396849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</a:rPr>
              <a:t>Explainability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5440680" y="433425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Dashboard showing the full AI decision pipeline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COMPLETE SYSTEM ARCHITECTURE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00B4D8"/>
                </a:solidFill>
              </a:rPr>
              <a:t>07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3429000" y="804672"/>
            <a:ext cx="2286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8046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📰  News Headline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480560" y="12618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B4D8"/>
                </a:solidFill>
              </a:rPr>
              <a:t>↓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4023360" cy="475488"/>
          </a:xfrm>
          <a:prstGeom prst="rect">
            <a:avLst/>
          </a:prstGeom>
          <a:solidFill>
            <a:srgbClr val="0D4F7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630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Story Intelligence Engine  •  Groq + Llama 3.3 70B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480560" y="19385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B4D8"/>
                </a:solidFill>
              </a:rPr>
              <a:t>↓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2834640" y="2139696"/>
            <a:ext cx="3474720" cy="402336"/>
          </a:xfrm>
          <a:prstGeom prst="rect">
            <a:avLst/>
          </a:prstGeom>
          <a:solidFill>
            <a:srgbClr val="1E1B3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1396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0F4F8"/>
                </a:solidFill>
              </a:rPr>
              <a:t>Pydantic Schema Validation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4480560" y="254203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B4D8"/>
                </a:solidFill>
              </a:rPr>
              <a:t>↓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77F00"/>
                </a:solidFill>
              </a:rPr>
              <a:t>Character DNA Engine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1645920" y="2472899"/>
            <a:ext cx="0" cy="201168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246120" y="2743200"/>
            <a:ext cx="27432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6D6A0"/>
                </a:solidFill>
              </a:rPr>
              <a:t>Narrative Planner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617720" y="2542032"/>
            <a:ext cx="0" cy="201168"/>
          </a:xfrm>
          <a:prstGeom prst="line">
            <a:avLst/>
          </a:prstGeom>
          <a:noFill/>
          <a:ln w="12700">
            <a:solidFill>
              <a:srgbClr val="06D6A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217920" y="2743200"/>
            <a:ext cx="27432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472B6"/>
                </a:solidFill>
              </a:rPr>
              <a:t>Prompt Builder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7589520" y="2542032"/>
            <a:ext cx="0" cy="201168"/>
          </a:xfrm>
          <a:prstGeom prst="line">
            <a:avLst/>
          </a:prstGeom>
          <a:noFill/>
          <a:ln w="12700">
            <a:solidFill>
              <a:srgbClr val="F472B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480560" y="3200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B4D8"/>
                </a:solidFill>
              </a:rPr>
              <a:t>↓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560320" y="3401568"/>
            <a:ext cx="4023360" cy="402336"/>
          </a:xfrm>
          <a:prstGeom prst="rect">
            <a:avLst/>
          </a:prstGeom>
          <a:solidFill>
            <a:srgbClr val="1A2B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40156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0F4F8"/>
                </a:solidFill>
              </a:rPr>
              <a:t>Image Rendering Engine  •  Pollinations.ai / FLUX / SDXL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4480560" y="380390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B4D8"/>
                </a:solidFill>
              </a:rPr>
              <a:t>↓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2834640" y="4005072"/>
            <a:ext cx="3474720" cy="402336"/>
          </a:xfrm>
          <a:prstGeom prst="rect">
            <a:avLst/>
          </a:prstGeom>
          <a:solidFill>
            <a:srgbClr val="2A1228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400507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0F4F8"/>
                </a:solidFill>
              </a:rPr>
              <a:t>Comic Composition Engine  •  Python PIL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480560" y="44074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B4D8"/>
                </a:solidFill>
              </a:rPr>
              <a:t>↓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3108960" y="4608576"/>
            <a:ext cx="2926080" cy="402336"/>
          </a:xfrm>
          <a:prstGeom prst="rect">
            <a:avLst/>
          </a:prstGeom>
          <a:solidFill>
            <a:srgbClr val="145A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46085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🎨  Final 4-Panel Comic Strip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6964926" y="801022"/>
            <a:ext cx="1300255" cy="1741416"/>
          </a:xfrm>
          <a:prstGeom prst="rect">
            <a:avLst/>
          </a:prstGeom>
          <a:solidFill>
            <a:srgbClr val="1A10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0740" y="320224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D166"/>
                </a:solidFill>
              </a:rPr>
              <a:t>Explainability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FFD166"/>
                </a:solidFill>
              </a:rPr>
              <a:t>Dashboard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1190011" y="2340937"/>
            <a:ext cx="1645920" cy="2743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744" y="805815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4B5FD"/>
                </a:solidFill>
              </a:rPr>
              <a:t>Headline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4B5FD"/>
                </a:solidFill>
              </a:rPr>
              <a:t>↓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4B5FD"/>
                </a:solidFill>
              </a:rPr>
              <a:t>Character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4B5FD"/>
                </a:solidFill>
              </a:rPr>
              <a:t>↓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4B5FD"/>
                </a:solidFill>
              </a:rPr>
              <a:t>Story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4B5FD"/>
                </a:solidFill>
              </a:rPr>
              <a:t>↓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4B5FD"/>
                </a:solidFill>
              </a:rPr>
              <a:t>Prompts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4B5FD"/>
                </a:solidFill>
              </a:rPr>
              <a:t>↓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C4B5FD"/>
                </a:solidFill>
              </a:rPr>
              <a:t>Comic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STORY INTELLIGENCE ENGINE  +  STRUCTURED SCHEMA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00B4D8"/>
                </a:solidFill>
              </a:rPr>
              <a:t>08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0B4D8"/>
                </a:solidFill>
              </a:rPr>
              <a:t>STORY INTELLIGENCE ENGINE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Technology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920240" y="13898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Groq API + Llama 3.3 70B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11480" y="1709928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Input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1920240" y="20299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Free-text news headline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11480" y="2350008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Output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920240" y="26700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Validated JSON story object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11480" y="2990088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101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Strategy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1920240" y="33101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Single structured LLM call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11480" y="3630168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0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Why Single Call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920240" y="3950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Reduces latency &amp; failure points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11480" y="4572000"/>
            <a:ext cx="3840480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0D1B2A"/>
                </a:solidFill>
              </a:rPr>
              <a:t>Generated JSON includes: theme, category, characters, panels (×4 with scene, dialogue, image prompt)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1E1B3E"/>
          </a:solidFill>
          <a:ln w="12700">
            <a:solidFill>
              <a:srgbClr val="1E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6C63FF"/>
                </a:solidFill>
              </a:rPr>
              <a:t> SCHEMA VALIDATION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800600" y="146304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4630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✓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5074920" y="14356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</a:rPr>
              <a:t>Exactly 4 panels (structural guarantee)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4800600" y="1993392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993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✓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5074920" y="19659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</a:rPr>
              <a:t>Dialogue present in each panel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4800600" y="2523744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5237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✓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5074920" y="24963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</a:rPr>
              <a:t>Scene narration present per panel</a:t>
            </a:r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4800600" y="3054096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0540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✓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5074920" y="30266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</a:rPr>
              <a:t>Image prompt non-empty per panel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4800600" y="3584448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5844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✓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5074920" y="35570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</a:rPr>
              <a:t>JSON structure fully valid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4800600" y="411480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114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✓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5074920" y="40873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</a:rPr>
              <a:t>Retry logic on validation failure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4800600" y="4572000"/>
            <a:ext cx="3840480" cy="274320"/>
          </a:xfrm>
          <a:prstGeom prst="rect">
            <a:avLst/>
          </a:prstGeom>
          <a:solidFill>
            <a:srgbClr val="F0FFF4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66534"/>
                </a:solidFill>
              </a:rPr>
              <a:t>Result: Deterministic, reliable output — eliminates hallucinations at the structural level.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CHARACTER DNA ENGINE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77F00"/>
                </a:solidFill>
              </a:rPr>
              <a:t>09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DC2626"/>
                </a:solidFill>
              </a:rPr>
              <a:t>THE PROBLEM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F1D1D"/>
                </a:solidFill>
              </a:rPr>
              <a:t>Without character anchoring, diffusion models generate a visually different character in each panel — destroying narrative continuity.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96012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68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16A34A"/>
                </a:solidFill>
              </a:rPr>
              <a:t>THE SOLUTION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4892040" y="11704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532D"/>
                </a:solidFill>
              </a:rPr>
              <a:t>Character DNA Engine generates ONE detailed profile and injects it into ALL 4 image prompts — ensuring visual identity is maintained.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389120" y="102412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77F00"/>
                </a:solidFill>
              </a:rPr>
              <a:t>→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11680"/>
            <a:ext cx="2743200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FFF"/>
                </a:solidFill>
              </a:rPr>
              <a:t>CHARACTER PROFILE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384048" y="246888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Name: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1325880" y="24688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D1B2A"/>
                </a:solidFill>
              </a:rPr>
              <a:t>Virat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384048" y="27706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Role: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1325880" y="27706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D1B2A"/>
                </a:solidFill>
              </a:rPr>
              <a:t>Indian Cricketer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384048" y="30723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Jersey: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1325880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D1B2A"/>
                </a:solidFill>
              </a:rPr>
              <a:t>Red RCB #18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84048" y="337413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Build: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325880" y="33741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D1B2A"/>
                </a:solidFill>
              </a:rPr>
              <a:t>Athletic, 5'9"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384048" y="36758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Hair: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325880" y="36758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D1B2A"/>
                </a:solidFill>
              </a:rPr>
              <a:t>Short black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84048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Facial Hair: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1325880" y="39776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D1B2A"/>
                </a:solidFill>
              </a:rPr>
              <a:t>Short neat beard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84048" y="42793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94A3B8"/>
                </a:solidFill>
              </a:rPr>
              <a:t>Expression: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1325880" y="427939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D1B2A"/>
                </a:solidFill>
              </a:rPr>
              <a:t>Determined, confident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3337560" y="2011680"/>
            <a:ext cx="5440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2011680"/>
            <a:ext cx="54406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01168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00B4D8"/>
                </a:solidFill>
              </a:rPr>
              <a:t>DNA INJECTION INTO IMAGE PROMPTS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3520440" y="2514600"/>
            <a:ext cx="11887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25146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D1B2A"/>
                </a:solidFill>
              </a:rPr>
              <a:t>Panel 1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0D1B2A"/>
                </a:solidFill>
              </a:rPr>
              <a:t>Setup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397764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77F00"/>
                </a:solidFill>
              </a:rPr>
              <a:t>↓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3520440" y="3337560"/>
            <a:ext cx="11887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3337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+ DNA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Profile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Injected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4846320" y="2514600"/>
            <a:ext cx="11887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5146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D1B2A"/>
                </a:solidFill>
              </a:rPr>
              <a:t>Panel 2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0D1B2A"/>
                </a:solidFill>
              </a:rPr>
              <a:t>Conflict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530352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77F00"/>
                </a:solidFill>
              </a:rPr>
              <a:t>↓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4846320" y="3337560"/>
            <a:ext cx="11887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337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+ DNA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Profile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Injected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172200" y="2514600"/>
            <a:ext cx="11887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5146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D1B2A"/>
                </a:solidFill>
              </a:rPr>
              <a:t>Panel 3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0D1B2A"/>
                </a:solidFill>
              </a:rPr>
              <a:t>Climax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662940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77F00"/>
                </a:solidFill>
              </a:rPr>
              <a:t>↓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6172200" y="3337560"/>
            <a:ext cx="11887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337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+ DNA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Profile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Injected</a:t>
            </a:r>
            <a:endParaRPr lang="en-US" sz="850"/>
          </a:p>
        </p:txBody>
      </p:sp>
      <p:sp>
        <p:nvSpPr>
          <p:cNvPr id="48" name="Shape 46"/>
          <p:cNvSpPr/>
          <p:nvPr/>
        </p:nvSpPr>
        <p:spPr>
          <a:xfrm>
            <a:off x="7498080" y="2514600"/>
            <a:ext cx="11887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0" y="25146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D1B2A"/>
                </a:solidFill>
              </a:rPr>
              <a:t>Panel 4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0D1B2A"/>
                </a:solidFill>
              </a:rPr>
              <a:t>Resolution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795528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77F00"/>
                </a:solidFill>
              </a:rPr>
              <a:t>↓</a:t>
            </a:r>
            <a:endParaRPr lang="en-US" sz="1200"/>
          </a:p>
        </p:txBody>
      </p:sp>
      <p:sp>
        <p:nvSpPr>
          <p:cNvPr id="51" name="Shape 49"/>
          <p:cNvSpPr/>
          <p:nvPr/>
        </p:nvSpPr>
        <p:spPr>
          <a:xfrm>
            <a:off x="7498080" y="3337560"/>
            <a:ext cx="11887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3337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+ DNA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Profile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77F00"/>
                </a:solidFill>
              </a:rPr>
              <a:t>Injected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3429000" y="422452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6D6A0"/>
                </a:solidFill>
              </a:rPr>
              <a:t>→ Same character, same appearance, across ALL 4 panels</a:t>
            </a:r>
            <a:endParaRPr lang="en-US" sz="1050"/>
          </a:p>
        </p:txBody>
      </p:sp>
      <p:sp>
        <p:nvSpPr>
          <p:cNvPr id="54" name="Shape 52"/>
          <p:cNvSpPr/>
          <p:nvPr/>
        </p:nvSpPr>
        <p:spPr>
          <a:xfrm>
            <a:off x="274320" y="4709160"/>
            <a:ext cx="850392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7091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D1B2A"/>
                </a:solidFill>
              </a:rPr>
              <a:t>Impact: Character visual consistency improved from ~30% (baseline) to ~85% (with DNA injection) in preliminary tests.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</a:rPr>
              <a:t>PROMPT BUILDER  +  IMAGE RENDERING ENGINE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06D6A0"/>
                </a:solidFill>
              </a:rPr>
              <a:t>10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38404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</a:rPr>
              <a:t>PROMPT BUILDER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</a:rPr>
              <a:t>Inputs Combined: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Character DNA Profile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11480" y="2093976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9397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Scene Description (per panel)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11480" y="2496312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963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Story Context &amp; Panel Number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11480" y="2898648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9864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Selected Comic Art Style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11480" y="3300984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009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Quality &amp; Negative Prompt Tags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57200" y="3822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</a:rPr>
              <a:t>Supported Art Styles: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11480" y="4133088"/>
            <a:ext cx="18288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B4D8"/>
                </a:solidFill>
              </a:rPr>
              <a:t>Editorial Comic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2377440" y="4133088"/>
            <a:ext cx="18288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C63FF"/>
                </a:solidFill>
              </a:rPr>
              <a:t>Graphic Novel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411480" y="4498848"/>
            <a:ext cx="18288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77F00"/>
                </a:solidFill>
              </a:rPr>
              <a:t>Manga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2377440" y="4498848"/>
            <a:ext cx="18288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6D6A0"/>
                </a:solidFill>
              </a:rPr>
              <a:t>Newspaper Cartoon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475488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868680"/>
            <a:ext cx="4114800" cy="38404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868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06D6A0"/>
                </a:solidFill>
              </a:rPr>
              <a:t>IMAGE RENDERING ENGINE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4892040" y="1371600"/>
            <a:ext cx="3840480" cy="868680"/>
          </a:xfrm>
          <a:prstGeom prst="rect">
            <a:avLst/>
          </a:prstGeom>
          <a:solidFill>
            <a:srgbClr val="F0FFF4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1371600"/>
            <a:ext cx="5029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3716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PRIMARY</a:t>
            </a:r>
            <a:endParaRPr lang="en-US" sz="700"/>
          </a:p>
        </p:txBody>
      </p:sp>
      <p:sp>
        <p:nvSpPr>
          <p:cNvPr id="35" name="Text 33"/>
          <p:cNvSpPr/>
          <p:nvPr/>
        </p:nvSpPr>
        <p:spPr>
          <a:xfrm>
            <a:off x="502920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</a:rPr>
              <a:t>Pollinations.ai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5029200" y="1920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Free API, no key required, rapid generation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892040" y="2395728"/>
            <a:ext cx="3840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670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</a:rPr>
              <a:t>FLUX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5029200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High-quality photorealistic outputs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4892040" y="3419856"/>
            <a:ext cx="3840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694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</a:rPr>
              <a:t>SDXL</a:t>
            </a:r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5029200" y="3968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</a:rPr>
              <a:t>Stable Diffusion XL for stylized art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4892040" y="4343400"/>
            <a:ext cx="3840480" cy="45720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D1B2A"/>
                </a:solidFill>
              </a:rPr>
              <a:t>Parallel generation using ThreadPoolExecutor — all 4 panels generated concurrently, cutting wait time by ~75%.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COMIC COMPOSITION ENGINE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472B6"/>
                </a:solidFill>
              </a:rPr>
              <a:t>11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1B2A"/>
                </a:solidFill>
              </a:rPr>
              <a:t>2×2 PANEL LAYOUT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874520" cy="1645920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🖼</a:t>
            </a:r>
            <a:endParaRPr lang="en-US" sz="320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1874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43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FFFFF"/>
                </a:solidFill>
              </a:rPr>
              <a:t>Panel 1: Setup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347472" y="2404872"/>
            <a:ext cx="17190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0487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D1B2A"/>
                </a:solidFill>
              </a:rPr>
              <a:t>"Sample dialogue here..."</a:t>
            </a:r>
            <a:endParaRPr lang="en-US" sz="700"/>
          </a:p>
        </p:txBody>
      </p:sp>
      <p:sp>
        <p:nvSpPr>
          <p:cNvPr id="13" name="Shape 11"/>
          <p:cNvSpPr/>
          <p:nvPr/>
        </p:nvSpPr>
        <p:spPr>
          <a:xfrm>
            <a:off x="2286000" y="1143000"/>
            <a:ext cx="1874520" cy="1645920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🖼</a:t>
            </a:r>
            <a:endParaRPr lang="en-US" sz="3200"/>
          </a:p>
        </p:txBody>
      </p:sp>
      <p:sp>
        <p:nvSpPr>
          <p:cNvPr id="15" name="Shape 13"/>
          <p:cNvSpPr/>
          <p:nvPr/>
        </p:nvSpPr>
        <p:spPr>
          <a:xfrm>
            <a:off x="2286000" y="1143000"/>
            <a:ext cx="1874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1143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FFFFF"/>
                </a:solidFill>
              </a:rPr>
              <a:t>Panel 2: Conflict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2359152" y="2404872"/>
            <a:ext cx="17190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40487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D1B2A"/>
                </a:solidFill>
              </a:rPr>
              <a:t>"Sample dialogue here..."</a:t>
            </a:r>
            <a:endParaRPr lang="en-US" sz="70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1874520" cy="1645920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632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🖼</a:t>
            </a:r>
            <a:endParaRPr lang="en-US" sz="320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1874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71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FFFFF"/>
                </a:solidFill>
              </a:rPr>
              <a:t>Panel 3: Climax</a:t>
            </a:r>
            <a:endParaRPr lang="en-US" sz="750"/>
          </a:p>
        </p:txBody>
      </p:sp>
      <p:sp>
        <p:nvSpPr>
          <p:cNvPr id="23" name="Shape 21"/>
          <p:cNvSpPr/>
          <p:nvPr/>
        </p:nvSpPr>
        <p:spPr>
          <a:xfrm>
            <a:off x="347472" y="4233672"/>
            <a:ext cx="17190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3367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D1B2A"/>
                </a:solidFill>
              </a:rPr>
              <a:t>"Sample dialogue here..."</a:t>
            </a:r>
            <a:endParaRPr lang="en-US" sz="700"/>
          </a:p>
        </p:txBody>
      </p:sp>
      <p:sp>
        <p:nvSpPr>
          <p:cNvPr id="25" name="Shape 23"/>
          <p:cNvSpPr/>
          <p:nvPr/>
        </p:nvSpPr>
        <p:spPr>
          <a:xfrm>
            <a:off x="2286000" y="2971800"/>
            <a:ext cx="1874520" cy="1645920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30632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000000"/>
                </a:solidFill>
              </a:rPr>
              <a:t>🖼</a:t>
            </a:r>
            <a:endParaRPr lang="en-US" sz="3200"/>
          </a:p>
        </p:txBody>
      </p:sp>
      <p:sp>
        <p:nvSpPr>
          <p:cNvPr id="27" name="Shape 25"/>
          <p:cNvSpPr/>
          <p:nvPr/>
        </p:nvSpPr>
        <p:spPr>
          <a:xfrm>
            <a:off x="2286000" y="2971800"/>
            <a:ext cx="1874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2971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FFFFF"/>
                </a:solidFill>
              </a:rPr>
              <a:t>Panel 4: Resolution</a:t>
            </a:r>
            <a:endParaRPr lang="en-US" sz="750"/>
          </a:p>
        </p:txBody>
      </p:sp>
      <p:sp>
        <p:nvSpPr>
          <p:cNvPr id="29" name="Shape 27"/>
          <p:cNvSpPr/>
          <p:nvPr/>
        </p:nvSpPr>
        <p:spPr>
          <a:xfrm>
            <a:off x="2359152" y="4233672"/>
            <a:ext cx="17190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423367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D1B2A"/>
                </a:solidFill>
              </a:rPr>
              <a:t>"Sample dialogue here..."</a:t>
            </a:r>
            <a:endParaRPr lang="en-US" sz="700"/>
          </a:p>
        </p:txBody>
      </p:sp>
      <p:sp>
        <p:nvSpPr>
          <p:cNvPr id="31" name="Shape 29"/>
          <p:cNvSpPr/>
          <p:nvPr/>
        </p:nvSpPr>
        <p:spPr>
          <a:xfrm>
            <a:off x="4434840" y="822960"/>
            <a:ext cx="4389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822960"/>
            <a:ext cx="4389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82296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200">
                <a:solidFill>
                  <a:srgbClr val="F472B6"/>
                </a:solidFill>
              </a:rPr>
              <a:t>PYTHON PIL (PILLOW) FEATURES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4572000" y="13258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3716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🔲</a:t>
            </a:r>
            <a:endParaRPr lang="en-US" sz="1800"/>
          </a:p>
        </p:txBody>
      </p:sp>
      <p:sp>
        <p:nvSpPr>
          <p:cNvPr id="36" name="Text 34"/>
          <p:cNvSpPr/>
          <p:nvPr/>
        </p:nvSpPr>
        <p:spPr>
          <a:xfrm>
            <a:off x="5120640" y="1371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2×2 Comic Grid Layout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5120640" y="1627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Panel assembly with consistent border weights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4572000" y="20116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0574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💬</a:t>
            </a:r>
            <a:endParaRPr lang="en-US" sz="1800"/>
          </a:p>
        </p:txBody>
      </p:sp>
      <p:sp>
        <p:nvSpPr>
          <p:cNvPr id="40" name="Text 38"/>
          <p:cNvSpPr/>
          <p:nvPr/>
        </p:nvSpPr>
        <p:spPr>
          <a:xfrm>
            <a:off x="5120640" y="2057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Programmatic Speech Bubbles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5120640" y="2313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Dialogue overlaid in-code, never by AI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4572000" y="26974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7432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📝</a:t>
            </a:r>
            <a:endParaRPr lang="en-US" sz="1800"/>
          </a:p>
        </p:txBody>
      </p:sp>
      <p:sp>
        <p:nvSpPr>
          <p:cNvPr id="44" name="Text 42"/>
          <p:cNvSpPr/>
          <p:nvPr/>
        </p:nvSpPr>
        <p:spPr>
          <a:xfrm>
            <a:off x="5120640" y="2743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Narration Text Boxes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5120640" y="29992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Top-of-panel captions with custom font rendering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4572000" y="33832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4290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🖼</a:t>
            </a:r>
            <a:endParaRPr lang="en-US" sz="1800"/>
          </a:p>
        </p:txBody>
      </p:sp>
      <p:sp>
        <p:nvSpPr>
          <p:cNvPr id="48" name="Text 46"/>
          <p:cNvSpPr/>
          <p:nvPr/>
        </p:nvSpPr>
        <p:spPr>
          <a:xfrm>
            <a:off x="5120640" y="3429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Panel Borders &amp; Gutters</a:t>
            </a:r>
            <a:endParaRPr lang="en-US" sz="1050"/>
          </a:p>
        </p:txBody>
      </p:sp>
      <p:sp>
        <p:nvSpPr>
          <p:cNvPr id="49" name="Text 47"/>
          <p:cNvSpPr/>
          <p:nvPr/>
        </p:nvSpPr>
        <p:spPr>
          <a:xfrm>
            <a:off x="5120640" y="3685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Comic-accurate spacing between panels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4572000" y="40690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1148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🔤</a:t>
            </a:r>
            <a:endParaRPr lang="en-US" sz="1800"/>
          </a:p>
        </p:txBody>
      </p:sp>
      <p:sp>
        <p:nvSpPr>
          <p:cNvPr id="52" name="Text 50"/>
          <p:cNvSpPr/>
          <p:nvPr/>
        </p:nvSpPr>
        <p:spPr>
          <a:xfrm>
            <a:off x="5120640" y="4114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</a:rPr>
              <a:t>Typography Control</a:t>
            </a:r>
            <a:endParaRPr lang="en-US" sz="1050"/>
          </a:p>
        </p:txBody>
      </p:sp>
      <p:sp>
        <p:nvSpPr>
          <p:cNvPr id="53" name="Text 51"/>
          <p:cNvSpPr/>
          <p:nvPr/>
        </p:nvSpPr>
        <p:spPr>
          <a:xfrm>
            <a:off x="5120640" y="43708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Font face, size, weight, line-wrap via PIL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4434840" y="4754880"/>
            <a:ext cx="4389120" cy="201168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0" y="4754880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800" b="1">
              <a:solidFill>
                <a:srgbClr val="0D1B2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INITIAL RESULTS — SAMPLE OUTPUTS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6C63FF"/>
                </a:solidFill>
              </a:rPr>
              <a:t>14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788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Sports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2606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194" y="1280160"/>
            <a:ext cx="2541959" cy="649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0D1B2A"/>
                </a:solidFill>
              </a:rPr>
              <a:t>"RCB extends winning streak after historic title season"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65760" y="197510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B4D8"/>
                </a:solidFill>
              </a:rPr>
              <a:t>Style: Editorial Comic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3227832" y="1145212"/>
            <a:ext cx="2788920" cy="387477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868680"/>
            <a:ext cx="278892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86868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Science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3319272" y="1280160"/>
            <a:ext cx="2606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1280160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0D1B2A"/>
                </a:solidFill>
              </a:rPr>
              <a:t>"Scientists discover new exoplanet in habitable zone"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6181344" y="86868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81344" y="868680"/>
            <a:ext cx="2788920" cy="3474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81344" y="86868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Tech / Business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6272784" y="1280160"/>
            <a:ext cx="2606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1280160"/>
            <a:ext cx="2532888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i="1">
                <a:solidFill>
                  <a:srgbClr val="0D1B2A"/>
                </a:solidFill>
                <a:ea typeface="+mn-lt"/>
                <a:cs typeface="+mn-lt"/>
              </a:rPr>
              <a:t>"Peace Treaty Signed! World Leaders Shake Hands After Intense 48-Hour Summit"</a:t>
            </a:r>
            <a:endParaRPr lang="en-US" i="1">
              <a:ea typeface="Calibri"/>
              <a:cs typeface="Calibri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300216" y="38496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>
                <a:solidFill>
                  <a:srgbClr val="FFFFFF"/>
                </a:solidFill>
              </a:rPr>
              <a:t>Climax: Deal signed</a:t>
            </a:r>
            <a:endParaRPr lang="en-US" sz="600"/>
          </a:p>
        </p:txBody>
      </p:sp>
      <p:sp>
        <p:nvSpPr>
          <p:cNvPr id="71" name="Text 69"/>
          <p:cNvSpPr/>
          <p:nvPr/>
        </p:nvSpPr>
        <p:spPr>
          <a:xfrm>
            <a:off x="7653528" y="38496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>
                <a:solidFill>
                  <a:srgbClr val="FFFFFF"/>
                </a:solidFill>
              </a:rPr>
              <a:t>Resolution: City planning</a:t>
            </a:r>
            <a:endParaRPr lang="en-US" sz="600"/>
          </a:p>
        </p:txBody>
      </p:sp>
      <p:pic>
        <p:nvPicPr>
          <p:cNvPr id="13" name="Picture 12" descr="A collage of a person holding a trophy&#10;&#10;AI-generated content may be incorrect.">
            <a:extLst>
              <a:ext uri="{FF2B5EF4-FFF2-40B4-BE49-F238E27FC236}">
                <a16:creationId xmlns:a16="http://schemas.microsoft.com/office/drawing/2014/main" id="{3DEC00FE-6422-B611-832F-72FF5A596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64" y="1932215"/>
            <a:ext cx="2567216" cy="2558144"/>
          </a:xfrm>
          <a:prstGeom prst="rect">
            <a:avLst/>
          </a:prstGeom>
        </p:spPr>
      </p:pic>
      <p:pic>
        <p:nvPicPr>
          <p:cNvPr id="15" name="Picture 14" descr="A comic page of a person looking at a person in a room&#10;&#10;AI-generated content may be incorrect.">
            <a:extLst>
              <a:ext uri="{FF2B5EF4-FFF2-40B4-BE49-F238E27FC236}">
                <a16:creationId xmlns:a16="http://schemas.microsoft.com/office/drawing/2014/main" id="{18039AD7-0C2F-C71A-BECE-8C3D36D04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607" y="1923143"/>
            <a:ext cx="2612572" cy="2567215"/>
          </a:xfrm>
          <a:prstGeom prst="rect">
            <a:avLst/>
          </a:prstGeom>
        </p:spPr>
      </p:pic>
      <p:pic>
        <p:nvPicPr>
          <p:cNvPr id="16" name="Picture 15" descr="A collage of a person shaking hands&#10;&#10;AI-generated content may be incorrect.">
            <a:extLst>
              <a:ext uri="{FF2B5EF4-FFF2-40B4-BE49-F238E27FC236}">
                <a16:creationId xmlns:a16="http://schemas.microsoft.com/office/drawing/2014/main" id="{985AC1B0-F112-82CC-0D71-F070719D1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178" y="1923143"/>
            <a:ext cx="2558144" cy="2567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CURRENT IMPLEMENTATION STATUS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06D6A0"/>
                </a:solidFill>
              </a:rPr>
              <a:t>13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B4D8"/>
                </a:solidFill>
              </a:rPr>
              <a:t>Component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023360" y="841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B4D8"/>
                </a:solidFill>
              </a:rPr>
              <a:t>Progress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7223760" y="8412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B4D8"/>
                </a:solidFill>
              </a:rPr>
              <a:t>Status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258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Streamlit UI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023360" y="1389888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389888"/>
            <a:ext cx="2487168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4660" y="135331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D1B2A"/>
                </a:solidFill>
              </a:rPr>
              <a:t>85%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7315200" y="1353312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35331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8350F"/>
                </a:solidFill>
              </a:rPr>
              <a:t>In Progress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274320" y="1737360"/>
            <a:ext cx="8595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8013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Story Intelligence Engine (Groq + Llama)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023360" y="1865376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1865376"/>
            <a:ext cx="2779776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4660" y="182880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D1B2A"/>
                </a:solidFill>
              </a:rPr>
              <a:t>95%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850" b="1">
                <a:solidFill>
                  <a:srgbClr val="166534"/>
                </a:solidFill>
              </a:rPr>
              <a:t>Nearly Complete</a:t>
            </a:r>
            <a:endParaRPr lang="en-US" sz="85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2212848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276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Pydantic Schema Validation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023360" y="2340864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2340864"/>
            <a:ext cx="2926080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4660" y="2304288"/>
            <a:ext cx="50292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D1B2A"/>
                </a:solidFill>
              </a:rPr>
              <a:t>95%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7315200" y="2304288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304288"/>
            <a:ext cx="141732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850" b="1">
                <a:solidFill>
                  <a:srgbClr val="166534"/>
                </a:solidFill>
              </a:rPr>
              <a:t>Nearly Complete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274320" y="2688336"/>
            <a:ext cx="8595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7523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Character DNA Engine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4023360" y="2816352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0" y="2816352"/>
            <a:ext cx="2633472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4660" y="277977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D1B2A"/>
                </a:solidFill>
              </a:rPr>
              <a:t>90%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7315200" y="2779776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2779776"/>
            <a:ext cx="141732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850" b="1">
                <a:solidFill>
                  <a:srgbClr val="166534"/>
                </a:solidFill>
              </a:rPr>
              <a:t>Nearly Complete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274320" y="3163824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2278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Image Rendering (Pollinations.ai)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4023360" y="3291840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23360" y="3291840"/>
            <a:ext cx="2340864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4660" y="32552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D1B2A"/>
                </a:solidFill>
              </a:rPr>
              <a:t>80%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7315200" y="3255264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325526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8350F"/>
                </a:solidFill>
              </a:rPr>
              <a:t>In Progress</a:t>
            </a: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274320" y="3639312"/>
            <a:ext cx="8595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7033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Comic Composition Engine (PIL)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4023360" y="3767328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3767328"/>
            <a:ext cx="2194560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04660" y="37307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D1B2A"/>
                </a:solidFill>
              </a:rPr>
              <a:t>75%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7315200" y="3730752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373075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8350F"/>
                </a:solidFill>
              </a:rPr>
              <a:t>In Progress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274320" y="4114800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1788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Explainability Dashboard</a:t>
            </a:r>
            <a:endParaRPr lang="en-US" sz="1000"/>
          </a:p>
        </p:txBody>
      </p:sp>
      <p:sp>
        <p:nvSpPr>
          <p:cNvPr id="54" name="Shape 52"/>
          <p:cNvSpPr/>
          <p:nvPr/>
        </p:nvSpPr>
        <p:spPr>
          <a:xfrm>
            <a:off x="4023360" y="4242816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23360" y="4242816"/>
            <a:ext cx="1755648" cy="16459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04660" y="423345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D1B2A"/>
                </a:solidFill>
              </a:rPr>
              <a:t>60%</a:t>
            </a:r>
            <a:endParaRPr lang="en-US" sz="900"/>
          </a:p>
        </p:txBody>
      </p:sp>
      <p:sp>
        <p:nvSpPr>
          <p:cNvPr id="57" name="Shape 55"/>
          <p:cNvSpPr/>
          <p:nvPr/>
        </p:nvSpPr>
        <p:spPr>
          <a:xfrm>
            <a:off x="7315200" y="4206240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0" y="42062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9A3412"/>
                </a:solidFill>
              </a:rPr>
              <a:t>In Progress</a:t>
            </a:r>
            <a:endParaRPr lang="en-US" sz="850"/>
          </a:p>
        </p:txBody>
      </p:sp>
      <p:sp>
        <p:nvSpPr>
          <p:cNvPr id="59" name="Shape 57"/>
          <p:cNvSpPr/>
          <p:nvPr/>
        </p:nvSpPr>
        <p:spPr>
          <a:xfrm>
            <a:off x="274320" y="4590288"/>
            <a:ext cx="8595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6542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</a:rPr>
              <a:t>Integration Testing</a:t>
            </a:r>
            <a:endParaRPr lang="en-US" sz="1000"/>
          </a:p>
        </p:txBody>
      </p:sp>
      <p:sp>
        <p:nvSpPr>
          <p:cNvPr id="61" name="Shape 59"/>
          <p:cNvSpPr/>
          <p:nvPr/>
        </p:nvSpPr>
        <p:spPr>
          <a:xfrm>
            <a:off x="4023360" y="4718304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23360" y="4718304"/>
            <a:ext cx="1463040" cy="16459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04660" y="468172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D1B2A"/>
                </a:solidFill>
              </a:rPr>
              <a:t>50%</a:t>
            </a:r>
            <a:endParaRPr lang="en-US" sz="900"/>
          </a:p>
        </p:txBody>
      </p:sp>
      <p:sp>
        <p:nvSpPr>
          <p:cNvPr id="64" name="Shape 62"/>
          <p:cNvSpPr/>
          <p:nvPr/>
        </p:nvSpPr>
        <p:spPr>
          <a:xfrm>
            <a:off x="7315200" y="4681728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0" y="46817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9A3412"/>
                </a:solidFill>
              </a:rPr>
              <a:t>Planned</a:t>
            </a:r>
            <a:endParaRPr lang="en-US" sz="850"/>
          </a:p>
        </p:txBody>
      </p:sp>
      <p:sp>
        <p:nvSpPr>
          <p:cNvPr id="66" name="Shape 64"/>
          <p:cNvSpPr/>
          <p:nvPr/>
        </p:nvSpPr>
        <p:spPr>
          <a:xfrm>
            <a:off x="274320" y="5065776"/>
            <a:ext cx="8595360" cy="201168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5065776"/>
            <a:ext cx="822960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2A"/>
                </a:solidFill>
              </a:rPr>
              <a:t>Overall Project Completion: 65% completed</a:t>
            </a:r>
            <a:endParaRPr lang="en-US" sz="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154"/>
            <a:ext cx="9144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403" y="-117929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EXPLAINABILITY DASHBOARD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FD166"/>
                </a:solidFill>
              </a:rPr>
              <a:t>15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174534" y="751477"/>
            <a:ext cx="1536337" cy="657499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391" y="642620"/>
            <a:ext cx="1554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3605" y="660762"/>
            <a:ext cx="1536337" cy="338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📰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202111" y="10358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NEWS HEADLINE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729159" y="874486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B4D8"/>
                </a:solidFill>
              </a:rPr>
              <a:t>→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1884534" y="651691"/>
            <a:ext cx="1554480" cy="748213"/>
          </a:xfrm>
          <a:prstGeom prst="rect">
            <a:avLst/>
          </a:prstGeom>
          <a:solidFill>
            <a:srgbClr val="11224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5463" y="642620"/>
            <a:ext cx="1554480" cy="34747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5463" y="6426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👤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912112" y="1063026"/>
            <a:ext cx="1490253" cy="321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CHARACTER PROFILE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3484517" y="865414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77F00"/>
                </a:solidFill>
              </a:rPr>
              <a:t>→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3639891" y="651691"/>
            <a:ext cx="1518195" cy="748213"/>
          </a:xfrm>
          <a:prstGeom prst="rect">
            <a:avLst/>
          </a:prstGeom>
          <a:solidFill>
            <a:srgbClr val="1122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4535" y="642620"/>
            <a:ext cx="1554480" cy="3474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4535" y="6426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📖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3667469" y="93602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STORY STRUCTURE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167303" y="865414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6C63FF"/>
                </a:solidFill>
              </a:rPr>
              <a:t>→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5358963" y="651691"/>
            <a:ext cx="1527266" cy="757285"/>
          </a:xfrm>
          <a:prstGeom prst="rect">
            <a:avLst/>
          </a:prstGeom>
          <a:solidFill>
            <a:srgbClr val="11224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13607" y="642620"/>
            <a:ext cx="1554480" cy="34747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3607" y="6426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✏️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5386541" y="93602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IMAGE PROMPTS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6886375" y="77470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472B6"/>
                </a:solidFill>
              </a:rPr>
              <a:t>→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7078035" y="651691"/>
            <a:ext cx="1509124" cy="757284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32679" y="642620"/>
            <a:ext cx="155448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2679" y="6426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🎨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7078399" y="93602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FINAL COMIC</a:t>
            </a:r>
            <a:endParaRPr lang="en-US" sz="900"/>
          </a:p>
        </p:txBody>
      </p:sp>
      <p:pic>
        <p:nvPicPr>
          <p:cNvPr id="51" name="Picture 5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260D0-FFBA-E826-8C45-9780F1163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29" y="1540573"/>
            <a:ext cx="7157358" cy="3604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60666"/>
            <a:ext cx="87782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5400" b="1" kern="0" spc="300">
                <a:solidFill>
                  <a:srgbClr val="FFFFFF"/>
                </a:solidFill>
                <a:ea typeface="Calibri"/>
                <a:cs typeface="Calibri"/>
              </a:rPr>
              <a:t>THANK YOU</a:t>
            </a:r>
          </a:p>
        </p:txBody>
      </p:sp>
      <p:sp>
        <p:nvSpPr>
          <p:cNvPr id="29" name="Shape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solidFill>
            <a:srgbClr val="E8F5E9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 b="1">
              <a:solidFill>
                <a:srgbClr val="06D6A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Comic Strip Generator from News Headlines</dc:title>
  <dc:subject>PptxGenJS Presentation</dc:subject>
  <dc:creator>PptxGenJS</dc:creator>
  <cp:revision>32</cp:revision>
  <dcterms:created xsi:type="dcterms:W3CDTF">2026-05-30T18:28:33Z</dcterms:created>
  <dcterms:modified xsi:type="dcterms:W3CDTF">2026-05-31T03:15:14Z</dcterms:modified>
</cp:coreProperties>
</file>